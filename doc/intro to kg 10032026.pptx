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0" d="100"/>
          <a:sy n="50" d="100"/>
        </p:scale>
        <p:origin x="2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2D87-3ECE-9513-50C9-A9A6491F5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CEDAC-8776-71AC-A140-B604CFFFF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794DB-7B42-3528-B902-2EE59740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98B05-0B1F-93BE-C3FE-47EF4688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ED9E-697F-2FC3-8027-FC744BF4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344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6EFC-8D60-A187-860B-47856CF8A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4F87-D86C-71F0-64D4-200ED3169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5B5ED-002E-A848-1C60-6AA323AE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DB520-520D-6ED0-4893-26F6D2F3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DDFD8-D5B6-986B-5F8E-88F65EB8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739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4E81-67D3-8DFA-E666-0EB9C346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F28DC-3C67-13AB-E702-7709A0E2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0A69-947C-B093-ED1A-66993F4A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7AAE3-2D18-98C8-5A14-2C02B982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D344-261D-89C0-2A12-8740F62F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323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E3D0-BF13-4059-83D6-84202145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067D-EB2C-9B26-A018-58A07D0D1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ADBC-5C8C-79D0-79CE-B0BDDC389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5BB2B-6691-59B6-819F-1710B040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8E963-B4AF-1A77-F958-9D00BC87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9B366-AB73-270C-35FA-DA863F1E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590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9936-BEB9-AE63-83C1-3636A6CA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FF8DC-5254-2B85-41FA-9777175C9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4F4BA-FA64-FEC3-4430-012C446D8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768CC-CA68-76C8-416C-3FB14113A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62514-F8E5-541F-6172-02BEF6BDD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2DE42-C38E-76F8-F3B7-422116E3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3DCC7-8633-438A-AEFE-97046632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3029F-FEEF-A69D-D4B9-8372E43D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876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90DF-624F-E6A2-2BFF-4B87312D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6CFC3-FEC4-1751-7AAF-7F87AA54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8346-03F0-EF26-AD2A-AE3F7D75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4278E-BFB3-1D70-BB53-DFB715A7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471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35244-9900-2CDC-5D8F-F220E90D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EA359-6F32-01EF-1C47-9A043350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60D5B-4B17-C1D0-6E9D-8B38CB1C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8069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EFDD-B0B6-A0FD-7695-F60CFCDB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44A4B-F38B-8CDA-F4DE-7013E2C6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92BC7-7BBC-BBA1-D974-5F21BD11B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6EC01-1912-37BD-7936-9F295848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2E804-0D51-20CE-DAF2-0F083DAE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C2480-B054-D80F-49E1-2B9941F4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62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498A-394E-6102-B4B3-6575FF66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74071-8DFC-B499-F395-B2BC6D4DD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6BF42-9028-9ECA-A920-FB0630B25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B32DA-715F-8B55-351F-0CD6DBB0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3909D-C344-E48B-8AC3-B83F2CEB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6E91C-DC0B-A14F-7FBA-7DFDA5BB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4447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88DF-5DC4-E9B2-1E69-0AD5D164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31636-6EAC-C185-669C-4B252CBAF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B36-19EB-6D5B-3575-45078F8A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BA898-13D9-FA1F-36C2-5144AF7C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04EC3-E82D-CAD1-E44B-CFEE0D83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079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C1FD5-0B61-6AF9-19A5-DA1F64F87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5A2A5-4003-A8BD-F304-B26E3C2C4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3D88A-A624-B3AF-13CE-77FB12C0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6FF3-1D73-1C51-1C12-38AF20FF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1DAE8-B20F-AFE3-098A-FBA7A1B6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491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8047A-9FAB-3720-60DE-503009A5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4EC5E-A00D-1EEC-68AD-92D8C69B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992C0-ED1A-2D73-48FB-C420C52DE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C3F86-8010-4C64-B140-5734EAE17AEB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0EB8F-99AB-4F96-F3FA-A165D4ACD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E7662-FA64-17D9-CF57-494D64E75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B3758-07F7-47B2-B5A8-CCD51ABF811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777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A1AEF0-14EE-1D88-0668-DC62C0E81353}"/>
              </a:ext>
            </a:extLst>
          </p:cNvPr>
          <p:cNvSpPr/>
          <p:nvPr/>
        </p:nvSpPr>
        <p:spPr>
          <a:xfrm>
            <a:off x="2471351" y="83202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C3A0A-F3DD-54CD-13C5-2E9D46B25019}"/>
              </a:ext>
            </a:extLst>
          </p:cNvPr>
          <p:cNvSpPr txBox="1"/>
          <p:nvPr/>
        </p:nvSpPr>
        <p:spPr>
          <a:xfrm>
            <a:off x="1169773" y="749643"/>
            <a:ext cx="12084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Properties</a:t>
            </a:r>
          </a:p>
          <a:p>
            <a:r>
              <a:rPr lang="en-US" dirty="0"/>
              <a:t>Product</a:t>
            </a:r>
          </a:p>
          <a:p>
            <a:r>
              <a:rPr lang="en-US" dirty="0"/>
              <a:t>Pfams</a:t>
            </a:r>
          </a:p>
          <a:p>
            <a:r>
              <a:rPr lang="en-US" dirty="0"/>
              <a:t>..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8CCCD3-3B4A-D5EC-405B-4573B4B504B3}"/>
              </a:ext>
            </a:extLst>
          </p:cNvPr>
          <p:cNvCxnSpPr/>
          <p:nvPr/>
        </p:nvCxnSpPr>
        <p:spPr>
          <a:xfrm>
            <a:off x="3501081" y="1120346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C79C871-F123-62B3-049B-55FAE7D0D02C}"/>
              </a:ext>
            </a:extLst>
          </p:cNvPr>
          <p:cNvSpPr/>
          <p:nvPr/>
        </p:nvSpPr>
        <p:spPr>
          <a:xfrm>
            <a:off x="5288692" y="634314"/>
            <a:ext cx="103796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pathways</a:t>
            </a: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28088-D542-5F9B-F616-5E3761A9A772}"/>
              </a:ext>
            </a:extLst>
          </p:cNvPr>
          <p:cNvSpPr txBox="1"/>
          <p:nvPr/>
        </p:nvSpPr>
        <p:spPr>
          <a:xfrm>
            <a:off x="6903307" y="650789"/>
            <a:ext cx="23400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</a:t>
            </a:r>
          </a:p>
          <a:p>
            <a:r>
              <a:rPr lang="en-US" dirty="0"/>
              <a:t>EC</a:t>
            </a:r>
          </a:p>
          <a:p>
            <a:r>
              <a:rPr lang="en-US" dirty="0"/>
              <a:t>KEGG</a:t>
            </a:r>
          </a:p>
          <a:p>
            <a:r>
              <a:rPr lang="en-US" dirty="0"/>
              <a:t>Eggnog COG category</a:t>
            </a:r>
          </a:p>
          <a:p>
            <a:r>
              <a:rPr lang="en-US" dirty="0" err="1"/>
              <a:t>Cyanorak</a:t>
            </a:r>
            <a:r>
              <a:rPr lang="en-US" dirty="0"/>
              <a:t> role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0E2F7-1825-84B1-B8E5-6A58A0C563E5}"/>
              </a:ext>
            </a:extLst>
          </p:cNvPr>
          <p:cNvSpPr/>
          <p:nvPr/>
        </p:nvSpPr>
        <p:spPr>
          <a:xfrm>
            <a:off x="5441092" y="786714"/>
            <a:ext cx="103796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pathways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9964EC-770A-B698-3C3D-977A66C44264}"/>
              </a:ext>
            </a:extLst>
          </p:cNvPr>
          <p:cNvSpPr/>
          <p:nvPr/>
        </p:nvSpPr>
        <p:spPr>
          <a:xfrm>
            <a:off x="5593492" y="939114"/>
            <a:ext cx="103796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pathways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231DD-547D-7C7E-9909-1AAEEB0B41F8}"/>
              </a:ext>
            </a:extLst>
          </p:cNvPr>
          <p:cNvSpPr/>
          <p:nvPr/>
        </p:nvSpPr>
        <p:spPr>
          <a:xfrm>
            <a:off x="5708823" y="1091514"/>
            <a:ext cx="114505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pathways</a:t>
            </a:r>
            <a:endParaRPr lang="en-IL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83D7E1-C19C-45C8-9D79-FB1DA31122C6}"/>
              </a:ext>
            </a:extLst>
          </p:cNvPr>
          <p:cNvCxnSpPr/>
          <p:nvPr/>
        </p:nvCxnSpPr>
        <p:spPr>
          <a:xfrm>
            <a:off x="3653481" y="1272746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36E918-76CD-1A0F-5BAC-3B8CBAF91CB5}"/>
              </a:ext>
            </a:extLst>
          </p:cNvPr>
          <p:cNvCxnSpPr/>
          <p:nvPr/>
        </p:nvCxnSpPr>
        <p:spPr>
          <a:xfrm>
            <a:off x="3805881" y="1425146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B20C1D-CA29-DF8C-9D94-735CF6F9710D}"/>
              </a:ext>
            </a:extLst>
          </p:cNvPr>
          <p:cNvCxnSpPr/>
          <p:nvPr/>
        </p:nvCxnSpPr>
        <p:spPr>
          <a:xfrm>
            <a:off x="3958281" y="1577546"/>
            <a:ext cx="1400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F4A5A2-A0C5-C1C0-1118-7EDD5C6EDB81}"/>
              </a:ext>
            </a:extLst>
          </p:cNvPr>
          <p:cNvSpPr txBox="1"/>
          <p:nvPr/>
        </p:nvSpPr>
        <p:spPr>
          <a:xfrm>
            <a:off x="2356021" y="123567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homolog</a:t>
            </a:r>
            <a:endParaRPr lang="en-IL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5DD4068-436D-3AE3-674E-BF10060A6E3A}"/>
              </a:ext>
            </a:extLst>
          </p:cNvPr>
          <p:cNvSpPr/>
          <p:nvPr/>
        </p:nvSpPr>
        <p:spPr>
          <a:xfrm>
            <a:off x="2537253" y="444843"/>
            <a:ext cx="716692" cy="362465"/>
          </a:xfrm>
          <a:prstGeom prst="arc">
            <a:avLst>
              <a:gd name="adj1" fmla="val 1013754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A3AA93-EAD6-491A-96B1-E396D12070F0}"/>
              </a:ext>
            </a:extLst>
          </p:cNvPr>
          <p:cNvCxnSpPr/>
          <p:nvPr/>
        </p:nvCxnSpPr>
        <p:spPr>
          <a:xfrm flipV="1">
            <a:off x="2331308" y="1985319"/>
            <a:ext cx="584887" cy="270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142C52-A20B-FAAD-B7C7-62CFF8E0D118}"/>
              </a:ext>
            </a:extLst>
          </p:cNvPr>
          <p:cNvSpPr txBox="1"/>
          <p:nvPr/>
        </p:nvSpPr>
        <p:spPr>
          <a:xfrm>
            <a:off x="2611396" y="2891482"/>
            <a:ext cx="21419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Affect expression of</a:t>
            </a:r>
          </a:p>
          <a:p>
            <a:endParaRPr lang="en-US" dirty="0"/>
          </a:p>
          <a:p>
            <a:r>
              <a:rPr lang="en-US" dirty="0"/>
              <a:t>Log2fc</a:t>
            </a:r>
          </a:p>
          <a:p>
            <a:r>
              <a:rPr lang="en-US" dirty="0" err="1"/>
              <a:t>Padj</a:t>
            </a:r>
            <a:endParaRPr lang="en-US" dirty="0"/>
          </a:p>
          <a:p>
            <a:r>
              <a:rPr lang="en-US" dirty="0" err="1"/>
              <a:t>doi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D09BD-12B8-78E0-FDA1-7EE481BA1CF6}"/>
              </a:ext>
            </a:extLst>
          </p:cNvPr>
          <p:cNvSpPr/>
          <p:nvPr/>
        </p:nvSpPr>
        <p:spPr>
          <a:xfrm>
            <a:off x="864973" y="4868562"/>
            <a:ext cx="17217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Environmental condition</a:t>
            </a:r>
            <a:endParaRPr lang="en-I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8CB050-339D-031D-F88D-492EE6236E5D}"/>
              </a:ext>
            </a:extLst>
          </p:cNvPr>
          <p:cNvSpPr/>
          <p:nvPr/>
        </p:nvSpPr>
        <p:spPr>
          <a:xfrm>
            <a:off x="2759675" y="4876800"/>
            <a:ext cx="149104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Coculture with</a:t>
            </a:r>
          </a:p>
          <a:p>
            <a:pPr algn="ctr"/>
            <a:r>
              <a:rPr lang="en-US" dirty="0"/>
              <a:t>organism</a:t>
            </a:r>
            <a:endParaRPr lang="en-IL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4A8C3-517B-5C8D-9E1D-4970F00CD844}"/>
              </a:ext>
            </a:extLst>
          </p:cNvPr>
          <p:cNvCxnSpPr/>
          <p:nvPr/>
        </p:nvCxnSpPr>
        <p:spPr>
          <a:xfrm flipV="1">
            <a:off x="2195383" y="1981200"/>
            <a:ext cx="584887" cy="270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1DDFFA6-6EFF-6299-7AA3-25EB6C99A71C}"/>
              </a:ext>
            </a:extLst>
          </p:cNvPr>
          <p:cNvSpPr txBox="1"/>
          <p:nvPr/>
        </p:nvSpPr>
        <p:spPr>
          <a:xfrm>
            <a:off x="123569" y="2068382"/>
            <a:ext cx="2323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Affect expression</a:t>
            </a:r>
          </a:p>
          <a:p>
            <a:r>
              <a:rPr lang="en-US" dirty="0"/>
              <a:t> of homolog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CA2FC4-2DAA-A221-0BE5-8C76889B2E13}"/>
              </a:ext>
            </a:extLst>
          </p:cNvPr>
          <p:cNvCxnSpPr/>
          <p:nvPr/>
        </p:nvCxnSpPr>
        <p:spPr>
          <a:xfrm flipV="1">
            <a:off x="1705233" y="1664043"/>
            <a:ext cx="461318" cy="26608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06E7173F-2156-BA70-8FCC-BA359B444A13}"/>
              </a:ext>
            </a:extLst>
          </p:cNvPr>
          <p:cNvSpPr/>
          <p:nvPr/>
        </p:nvSpPr>
        <p:spPr>
          <a:xfrm>
            <a:off x="5391664" y="358346"/>
            <a:ext cx="716692" cy="362465"/>
          </a:xfrm>
          <a:prstGeom prst="arc">
            <a:avLst>
              <a:gd name="adj1" fmla="val 1013754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8D5E1E-902A-2299-EED6-907F1A76B9FC}"/>
              </a:ext>
            </a:extLst>
          </p:cNvPr>
          <p:cNvSpPr txBox="1"/>
          <p:nvPr/>
        </p:nvSpPr>
        <p:spPr>
          <a:xfrm>
            <a:off x="7356390" y="2957383"/>
            <a:ext cx="4118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happening in my experiment</a:t>
            </a:r>
          </a:p>
          <a:p>
            <a:r>
              <a:rPr lang="en-US" dirty="0"/>
              <a:t>What will  be considered evidence for …</a:t>
            </a:r>
          </a:p>
          <a:p>
            <a:r>
              <a:rPr lang="en-US" dirty="0"/>
              <a:t>What of the mechanisms has evidence</a:t>
            </a:r>
          </a:p>
          <a:p>
            <a:endParaRPr lang="en-I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93D7DD-A079-8881-CDD1-C8D5033454C5}"/>
              </a:ext>
            </a:extLst>
          </p:cNvPr>
          <p:cNvSpPr txBox="1"/>
          <p:nvPr/>
        </p:nvSpPr>
        <p:spPr>
          <a:xfrm>
            <a:off x="5469924" y="4934464"/>
            <a:ext cx="2222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Pathway enrichment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Nodes/edges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Tool</a:t>
            </a:r>
          </a:p>
          <a:p>
            <a:pPr marL="285750" indent="-285750">
              <a:buFontTx/>
              <a:buChar char="-"/>
            </a:pPr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76466A-4D02-7738-D36E-6FF3E42C122C}"/>
              </a:ext>
            </a:extLst>
          </p:cNvPr>
          <p:cNvSpPr txBox="1"/>
          <p:nvPr/>
        </p:nvSpPr>
        <p:spPr>
          <a:xfrm>
            <a:off x="8427309" y="4300152"/>
            <a:ext cx="34797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Genes of specific pathway</a:t>
            </a:r>
          </a:p>
          <a:p>
            <a:pPr marL="285750" indent="-285750">
              <a:buFontTx/>
              <a:buChar char="-"/>
            </a:pPr>
            <a:r>
              <a:rPr lang="en-US" dirty="0"/>
              <a:t>Search for genes/pathways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Expression table (list of genes)</a:t>
            </a:r>
          </a:p>
          <a:p>
            <a:pPr marL="285750" indent="-285750">
              <a:buFontTx/>
              <a:buChar char="-"/>
            </a:pPr>
            <a:r>
              <a:rPr lang="en-US" dirty="0"/>
              <a:t>Details of a specific gene</a:t>
            </a:r>
          </a:p>
          <a:p>
            <a:pPr marL="285750" indent="-285750">
              <a:buFontTx/>
              <a:buChar char="-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8853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0228-DFD4-95BD-35CB-BB520131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7512-FAE4-512A-33F9-574881D6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down regulation of photosynthesis an evidence for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0257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602867-2EDF-E54A-3B02-9FB402E8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59F801-BFE6-5D2B-3254-4D9E05E881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Kg</a:t>
            </a:r>
          </a:p>
          <a:p>
            <a:r>
              <a:rPr lang="en-US" dirty="0"/>
              <a:t>Analysis</a:t>
            </a:r>
          </a:p>
          <a:p>
            <a:r>
              <a:rPr lang="en-US" b="1" dirty="0"/>
              <a:t>How I tackle</a:t>
            </a:r>
          </a:p>
          <a:p>
            <a:r>
              <a:rPr lang="en-US" dirty="0"/>
              <a:t>Biological question </a:t>
            </a:r>
            <a:r>
              <a:rPr lang="en-US" dirty="0">
                <a:sym typeface="Wingdings" panose="05000000000000000000" pitchFamily="2" charset="2"/>
              </a:rPr>
              <a:t> insights </a:t>
            </a:r>
          </a:p>
          <a:p>
            <a:r>
              <a:rPr lang="en-US" dirty="0">
                <a:sym typeface="Wingdings" panose="05000000000000000000" pitchFamily="2" charset="2"/>
              </a:rPr>
              <a:t>Research question  conclusion  </a:t>
            </a:r>
            <a:endParaRPr lang="en-US" dirty="0"/>
          </a:p>
          <a:p>
            <a:r>
              <a:rPr lang="en-US" dirty="0"/>
              <a:t>…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Summary</a:t>
            </a:r>
          </a:p>
          <a:p>
            <a:pPr lvl="1"/>
            <a:r>
              <a:rPr lang="en-US" dirty="0"/>
              <a:t>How</a:t>
            </a:r>
          </a:p>
          <a:p>
            <a:pPr lvl="1"/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4F2ED-910F-E045-D80F-A2B0DB72AC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Prochlorococous</a:t>
            </a:r>
            <a:r>
              <a:rPr lang="en-US" dirty="0"/>
              <a:t>/Alteromonas</a:t>
            </a:r>
          </a:p>
          <a:p>
            <a:r>
              <a:rPr lang="en-US" dirty="0"/>
              <a:t>4 mechanisms</a:t>
            </a:r>
          </a:p>
          <a:p>
            <a:pPr lvl="1"/>
            <a:r>
              <a:rPr lang="en-US" dirty="0"/>
              <a:t>1</a:t>
            </a:r>
          </a:p>
          <a:p>
            <a:pPr lvl="1"/>
            <a:r>
              <a:rPr lang="en-US" dirty="0"/>
              <a:t>2</a:t>
            </a:r>
          </a:p>
          <a:p>
            <a:pPr lvl="1"/>
            <a:r>
              <a:rPr lang="en-US" dirty="0"/>
              <a:t>3</a:t>
            </a:r>
          </a:p>
          <a:p>
            <a:pPr lvl="1"/>
            <a:r>
              <a:rPr lang="en-US" dirty="0"/>
              <a:t>4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methods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5652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22460E-9C40-CB85-9DE8-08D787A1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1F4FB0-95F4-D96F-DF61-FB3575E0C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mechanism of interaction</a:t>
            </a:r>
          </a:p>
          <a:p>
            <a:r>
              <a:rPr lang="en-US" dirty="0"/>
              <a:t>Prochlorococcus/</a:t>
            </a:r>
            <a:r>
              <a:rPr lang="en-US" dirty="0" err="1"/>
              <a:t>synechococcus</a:t>
            </a:r>
            <a:r>
              <a:rPr lang="en-US" dirty="0"/>
              <a:t> interaction – consistency with studies in other organisms</a:t>
            </a:r>
          </a:p>
          <a:p>
            <a:r>
              <a:rPr lang="en-US" dirty="0"/>
              <a:t>Regulation? Hypotheticals? </a:t>
            </a:r>
          </a:p>
          <a:p>
            <a:r>
              <a:rPr lang="en-US" dirty="0"/>
              <a:t>RNA vs proteome</a:t>
            </a:r>
          </a:p>
          <a:p>
            <a:r>
              <a:rPr lang="en-US" dirty="0"/>
              <a:t>Prochlorococcus Axenic - death </a:t>
            </a:r>
          </a:p>
          <a:p>
            <a:pPr lvl="1"/>
            <a:r>
              <a:rPr lang="en-US" dirty="0"/>
              <a:t>Proteome late</a:t>
            </a:r>
          </a:p>
          <a:p>
            <a:r>
              <a:rPr lang="en-US" dirty="0"/>
              <a:t>FBA?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1548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5910</TotalTime>
  <Words>146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אסנת ויסברג</dc:creator>
  <cp:lastModifiedBy>אסנת ויסברג</cp:lastModifiedBy>
  <cp:revision>2</cp:revision>
  <dcterms:created xsi:type="dcterms:W3CDTF">2026-03-10T08:33:11Z</dcterms:created>
  <dcterms:modified xsi:type="dcterms:W3CDTF">2026-03-19T16:06:56Z</dcterms:modified>
</cp:coreProperties>
</file>